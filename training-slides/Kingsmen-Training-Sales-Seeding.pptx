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5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3543"/>
              </a:gs>
              <a:gs pos="100000">
                <a:srgbClr val="0A6A80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0A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926080"/>
            <a:ext cx="3840480" cy="3840480"/>
          </a:xfrm>
          <a:prstGeom prst="ellipse">
            <a:avLst/>
          </a:prstGeom>
          <a:solidFill>
            <a:srgbClr val="114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1005840"/>
            <a:ext cx="2377440" cy="2377440"/>
          </a:xfrm>
          <a:prstGeom prst="ellipse">
            <a:avLst/>
          </a:prstGeom>
          <a:noFill/>
          <a:ln w="19050">
            <a:solidFill>
              <a:srgbClr val="7F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77724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0B3543"/>
                </a:solidFill>
                <a:latin typeface="Montserrat"/>
              </a:rPr>
              <a:t>MARKETING  x  TEAM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8686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spc="200">
                <a:solidFill>
                  <a:srgbClr val="7FD4E4"/>
                </a:solidFill>
                <a:latin typeface="Montserrat"/>
              </a:rPr>
              <a:t>CHƯƠNG TRÌNH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5200" b="1">
                <a:solidFill>
                  <a:srgbClr val="FFFFFF"/>
                </a:solidFill>
                <a:latin typeface="Montserrat"/>
              </a:rPr>
              <a:t>TRAINING TEAM SALES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D9F2F7"/>
                </a:solidFill>
                <a:latin typeface="Maven Pro"/>
              </a:rPr>
              <a:t>Chiến dịch Seeding thương hiệu </a:t>
            </a:r>
            <a:r>
              <a:rPr sz="2200" b="1">
                <a:solidFill>
                  <a:srgbClr val="7FD4E4"/>
                </a:solidFill>
                <a:latin typeface="Montserrat"/>
              </a:rPr>
              <a:t>Kingsmen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160520"/>
            <a:ext cx="1371600" cy="45720"/>
          </a:xfrm>
          <a:prstGeom prst="rect">
            <a:avLst/>
          </a:prstGeom>
          <a:solidFill>
            <a:srgbClr val="7FD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CFE9EF"/>
                </a:solidFill>
                <a:latin typeface="Maven Pro"/>
              </a:rPr>
              <a:t>Marketing xây dựng nội dung &amp; chính sách  —  Sales trực tiếp triển khai thực thi.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7FD4E4"/>
                </a:solidFill>
                <a:latin typeface="Montserrat"/>
              </a:rPr>
              <a:t>Tổng quan  •  Mục tiêu  •  Chính sách  •  Hướng dẫn thực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100">
                <a:solidFill>
                  <a:srgbClr val="7FD4E4"/>
                </a:solidFill>
                <a:latin typeface="Montserrat"/>
              </a:rPr>
              <a:t>keokingsmen.com</a:t>
            </a:r>
            <a:r>
              <a:rPr sz="1100" b="0">
                <a:solidFill>
                  <a:srgbClr val="9DC5CF"/>
                </a:solidFill>
                <a:latin typeface="Maven Pro"/>
              </a:rPr>
              <a:t>     |     Tài liệu nội bộ - Phòng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02920" cy="100584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spc="300">
                <a:solidFill>
                  <a:srgbClr val="0A6A80"/>
                </a:solidFill>
                <a:latin typeface="Montserrat"/>
              </a:rPr>
              <a:t>01 — ĐỊNH HƯỚNG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0B3543"/>
                </a:solidFill>
                <a:latin typeface="Montserrat"/>
              </a:rPr>
              <a:t>Mục tiêu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38528"/>
            <a:ext cx="1188720" cy="45720"/>
          </a:xfrm>
          <a:prstGeom prst="rect">
            <a:avLst/>
          </a:prstGeom>
          <a:solidFill>
            <a:srgbClr val="7FD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50">
                <a:solidFill>
                  <a:srgbClr val="0A6A80"/>
                </a:solidFill>
                <a:latin typeface="Montserrat"/>
              </a:rPr>
              <a:t>KINGSMEN</a:t>
            </a:r>
            <a:r>
              <a:rPr sz="1000" b="0">
                <a:solidFill>
                  <a:srgbClr val="5C7480"/>
                </a:solidFill>
                <a:latin typeface="Maven Pro"/>
              </a:rPr>
              <a:t>  •  Seeding Marketing →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C7480"/>
                </a:solidFill>
                <a:latin typeface="Maven Pro"/>
              </a:rPr>
              <a:t>MỤC TIÊU   </a:t>
            </a:r>
            <a:r>
              <a:rPr sz="1200" b="1">
                <a:solidFill>
                  <a:srgbClr val="0A6A80"/>
                </a:solidFill>
                <a:latin typeface="Montserrat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7744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377440"/>
            <a:ext cx="128016" cy="1417320"/>
          </a:xfrm>
          <a:prstGeom prst="round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651760"/>
            <a:ext cx="566928" cy="566928"/>
          </a:xfrm>
          <a:prstGeom prst="ellipse">
            <a:avLst/>
          </a:prstGeom>
          <a:solidFill>
            <a:srgbClr val="E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6A80"/>
                </a:solidFill>
                <a:latin typeface="Montserra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615184"/>
            <a:ext cx="4023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B3543"/>
                </a:solidFill>
                <a:latin typeface="Montserrat"/>
              </a:rPr>
              <a:t>Nhận diện thương hiệu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480"/>
                </a:solidFill>
                <a:latin typeface="Maven Pro"/>
              </a:rPr>
              <a:t>Phủ sóng hình ảnh kẹo Kingsmen trên MXH &amp; hội nhóm mục tiêu.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37744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2377440"/>
            <a:ext cx="128016" cy="1417320"/>
          </a:xfrm>
          <a:prstGeom prst="round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60" y="2651760"/>
            <a:ext cx="566928" cy="566928"/>
          </a:xfrm>
          <a:prstGeom prst="ellipse">
            <a:avLst/>
          </a:prstGeom>
          <a:solidFill>
            <a:srgbClr val="E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6A80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615184"/>
            <a:ext cx="4023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B3543"/>
                </a:solidFill>
                <a:latin typeface="Montserrat"/>
              </a:rPr>
              <a:t>Xây dựng niềm tin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480"/>
                </a:solidFill>
                <a:latin typeface="Maven Pro"/>
              </a:rPr>
              <a:t>Tạo review, đánh giá thật giúp khách hàng an tâm lựa chọn.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87368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4087368"/>
            <a:ext cx="128016" cy="1417320"/>
          </a:xfrm>
          <a:prstGeom prst="round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361688"/>
            <a:ext cx="566928" cy="566928"/>
          </a:xfrm>
          <a:prstGeom prst="ellipse">
            <a:avLst/>
          </a:prstGeom>
          <a:solidFill>
            <a:srgbClr val="E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6A80"/>
                </a:solidFill>
                <a:latin typeface="Montserra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325112"/>
            <a:ext cx="4023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B3543"/>
                </a:solidFill>
                <a:latin typeface="Montserrat"/>
              </a:rPr>
              <a:t>Tăng tương tác tự nhiên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480"/>
                </a:solidFill>
                <a:latin typeface="Maven Pro"/>
              </a:rPr>
              <a:t>Đẩy comment, thảo luận để nội dung tiếp cận rộng hơn.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087368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4087368"/>
            <a:ext cx="128016" cy="1417320"/>
          </a:xfrm>
          <a:prstGeom prst="round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60" y="4361688"/>
            <a:ext cx="566928" cy="566928"/>
          </a:xfrm>
          <a:prstGeom prst="ellipse">
            <a:avLst/>
          </a:prstGeom>
          <a:solidFill>
            <a:srgbClr val="E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6A80"/>
                </a:solidFill>
                <a:latin typeface="Montserra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325112"/>
            <a:ext cx="4023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B3543"/>
                </a:solidFill>
                <a:latin typeface="Montserrat"/>
              </a:rPr>
              <a:t>Chuyển đổi ra đơn hàng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480"/>
                </a:solidFill>
                <a:latin typeface="Maven Pro"/>
              </a:rPr>
              <a:t>Biến độ quan tâm từ seeding thành khách hàng thực.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742432"/>
            <a:ext cx="10744200" cy="457200"/>
          </a:xfrm>
          <a:prstGeom prst="roundRect">
            <a:avLst/>
          </a:prstGeom>
          <a:solidFill>
            <a:srgbClr val="0B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FD4E4"/>
                </a:solidFill>
                <a:latin typeface="Montserrat"/>
              </a:rPr>
              <a:t>ĐỊNH HƯỚNG KPI:   </a:t>
            </a:r>
            <a:r>
              <a:rPr sz="1300" b="0">
                <a:solidFill>
                  <a:srgbClr val="FFFFFF"/>
                </a:solidFill>
                <a:latin typeface="Maven Pro"/>
              </a:rPr>
              <a:t>Số bài seeding  •  Lượt comment/tương tác  •  Số đơn phát sinh từ seeding mỗi tuần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02920" cy="100584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spc="300">
                <a:solidFill>
                  <a:srgbClr val="0A6A80"/>
                </a:solidFill>
                <a:latin typeface="Montserrat"/>
              </a:rPr>
              <a:t>02 — NGUYÊN TẮC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0B3543"/>
                </a:solidFill>
                <a:latin typeface="Montserrat"/>
              </a:rPr>
              <a:t>Chính sách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38528"/>
            <a:ext cx="1188720" cy="45720"/>
          </a:xfrm>
          <a:prstGeom prst="rect">
            <a:avLst/>
          </a:prstGeom>
          <a:solidFill>
            <a:srgbClr val="7FD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50">
                <a:solidFill>
                  <a:srgbClr val="0A6A80"/>
                </a:solidFill>
                <a:latin typeface="Montserrat"/>
              </a:rPr>
              <a:t>KINGSMEN</a:t>
            </a:r>
            <a:r>
              <a:rPr sz="1000" b="0">
                <a:solidFill>
                  <a:srgbClr val="5C7480"/>
                </a:solidFill>
                <a:latin typeface="Maven Pro"/>
              </a:rPr>
              <a:t>  •  Seeding Marketing →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C7480"/>
                </a:solidFill>
                <a:latin typeface="Maven Pro"/>
              </a:rPr>
              <a:t>CHÍNH SÁCH   </a:t>
            </a:r>
            <a:r>
              <a:rPr sz="1200" b="1">
                <a:solidFill>
                  <a:srgbClr val="0A6A80"/>
                </a:solidFill>
                <a:latin typeface="Montserrat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86000"/>
            <a:ext cx="67665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100">
                <a:solidFill>
                  <a:srgbClr val="0A6A80"/>
                </a:solidFill>
                <a:latin typeface="Montserrat"/>
              </a:rPr>
              <a:t>NGUYÊN TẮC BẮT BUỘC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118104"/>
            <a:ext cx="237744" cy="237744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3580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14654"/>
                </a:solidFill>
                <a:latin typeface="Maven Pro"/>
              </a:rPr>
              <a:t>Nội dung đúng chuẩn thương hiệu: tông màu, thông điệp, hình ảnh Kingsmen.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685032"/>
            <a:ext cx="237744" cy="237744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60273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14654"/>
                </a:solidFill>
                <a:latin typeface="Maven Pro"/>
              </a:rPr>
              <a:t>Bám sát kịch bản &amp; nội dung do Marketing cung cấp.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4251960"/>
            <a:ext cx="237744" cy="237744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169664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14654"/>
                </a:solidFill>
                <a:latin typeface="Maven Pro"/>
              </a:rPr>
              <a:t>Seeding tự nhiên, đúng nhóm khách hàng mục tiêu.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818888"/>
            <a:ext cx="237744" cy="237744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73659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14654"/>
                </a:solidFill>
                <a:latin typeface="Maven Pro"/>
              </a:rPr>
              <a:t>Cập nhật kết quả trung thực lên App Seeding.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" y="5385816"/>
            <a:ext cx="237744" cy="237744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3035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14654"/>
                </a:solidFill>
                <a:latin typeface="Maven Pro"/>
              </a:rPr>
              <a:t>Bảo mật thông tin nội bộ, tài khoản &amp; chiến dịch.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2286000"/>
            <a:ext cx="3776472" cy="3794760"/>
          </a:xfrm>
          <a:prstGeom prst="roundRect">
            <a:avLst/>
          </a:prstGeom>
          <a:solidFill>
            <a:srgbClr val="0B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25420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100">
                <a:solidFill>
                  <a:srgbClr val="7FD4E4"/>
                </a:solidFill>
                <a:latin typeface="Montserrat"/>
              </a:rPr>
              <a:t>TUYỆT ĐỐI TRÁNH</a:t>
            </a:r>
          </a:p>
        </p:txBody>
      </p:sp>
      <p:sp>
        <p:nvSpPr>
          <p:cNvPr id="23" name="Oval 22"/>
          <p:cNvSpPr/>
          <p:nvPr/>
        </p:nvSpPr>
        <p:spPr>
          <a:xfrm>
            <a:off x="7991856" y="3108960"/>
            <a:ext cx="237744" cy="237744"/>
          </a:xfrm>
          <a:prstGeom prst="ellipse">
            <a:avLst/>
          </a:prstGeom>
          <a:solidFill>
            <a:srgbClr val="EF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03580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FECEF"/>
                </a:solidFill>
                <a:latin typeface="Maven Pro"/>
              </a:rPr>
              <a:t>Spam, đăng hàng loạt gây phản cảm.</a:t>
            </a:r>
          </a:p>
        </p:txBody>
      </p:sp>
      <p:sp>
        <p:nvSpPr>
          <p:cNvPr id="25" name="Oval 24"/>
          <p:cNvSpPr/>
          <p:nvPr/>
        </p:nvSpPr>
        <p:spPr>
          <a:xfrm>
            <a:off x="7991856" y="3767328"/>
            <a:ext cx="237744" cy="237744"/>
          </a:xfrm>
          <a:prstGeom prst="ellipse">
            <a:avLst/>
          </a:prstGeom>
          <a:solidFill>
            <a:srgbClr val="EF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694176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FECEF"/>
                </a:solidFill>
                <a:latin typeface="Maven Pro"/>
              </a:rPr>
              <a:t>Nói xấu, so sánh hạ thấp đối thủ.</a:t>
            </a:r>
          </a:p>
        </p:txBody>
      </p:sp>
      <p:sp>
        <p:nvSpPr>
          <p:cNvPr id="27" name="Oval 26"/>
          <p:cNvSpPr/>
          <p:nvPr/>
        </p:nvSpPr>
        <p:spPr>
          <a:xfrm>
            <a:off x="7991856" y="4425696"/>
            <a:ext cx="237744" cy="237744"/>
          </a:xfrm>
          <a:prstGeom prst="ellipse">
            <a:avLst/>
          </a:prstGeom>
          <a:solidFill>
            <a:srgbClr val="EF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52544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FECEF"/>
                </a:solidFill>
                <a:latin typeface="Maven Pro"/>
              </a:rPr>
              <a:t>Tự ý thay đổi thông điệp thương hiệu.</a:t>
            </a:r>
          </a:p>
        </p:txBody>
      </p:sp>
      <p:sp>
        <p:nvSpPr>
          <p:cNvPr id="29" name="Oval 28"/>
          <p:cNvSpPr/>
          <p:nvPr/>
        </p:nvSpPr>
        <p:spPr>
          <a:xfrm>
            <a:off x="7991856" y="5084064"/>
            <a:ext cx="237744" cy="237744"/>
          </a:xfrm>
          <a:prstGeom prst="ellipse">
            <a:avLst/>
          </a:prstGeom>
          <a:solidFill>
            <a:srgbClr val="EF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010912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FECEF"/>
                </a:solidFill>
                <a:latin typeface="Maven Pro"/>
              </a:rPr>
              <a:t>Cam kết sai lệch về sản phẩm.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02920" cy="100584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spc="300">
                <a:solidFill>
                  <a:srgbClr val="0A6A80"/>
                </a:solidFill>
                <a:latin typeface="Montserrat"/>
              </a:rPr>
              <a:t>03 — QUY TRÌNH THỰC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0B3543"/>
                </a:solidFill>
                <a:latin typeface="Montserrat"/>
              </a:rPr>
              <a:t>Hướng dẫn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38528"/>
            <a:ext cx="1188720" cy="45720"/>
          </a:xfrm>
          <a:prstGeom prst="rect">
            <a:avLst/>
          </a:prstGeom>
          <a:solidFill>
            <a:srgbClr val="7FD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50">
                <a:solidFill>
                  <a:srgbClr val="0A6A80"/>
                </a:solidFill>
                <a:latin typeface="Montserrat"/>
              </a:rPr>
              <a:t>KINGSMEN</a:t>
            </a:r>
            <a:r>
              <a:rPr sz="1000" b="0">
                <a:solidFill>
                  <a:srgbClr val="5C7480"/>
                </a:solidFill>
                <a:latin typeface="Maven Pro"/>
              </a:rPr>
              <a:t>  •  Seeding Marketing →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C7480"/>
                </a:solidFill>
                <a:latin typeface="Maven Pro"/>
              </a:rPr>
              <a:t>HƯỚNG DẪN   </a:t>
            </a:r>
            <a:r>
              <a:rPr sz="1200" b="1">
                <a:solidFill>
                  <a:srgbClr val="0A6A80"/>
                </a:solidFill>
                <a:latin typeface="Montserrat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990088"/>
            <a:ext cx="10378440" cy="27940"/>
          </a:xfrm>
          <a:prstGeom prst="rect">
            <a:avLst/>
          </a:prstGeom>
          <a:solidFill>
            <a:srgbClr val="7FD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9868" y="2606040"/>
            <a:ext cx="822960" cy="822960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03320"/>
            <a:ext cx="18562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703320"/>
            <a:ext cx="1856232" cy="109728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31920"/>
            <a:ext cx="1600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spc="150">
                <a:solidFill>
                  <a:srgbClr val="0A6A80"/>
                </a:solidFill>
                <a:latin typeface="Montserrat"/>
              </a:rPr>
              <a:t>BƯỚC 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B3543"/>
                </a:solidFill>
                <a:latin typeface="Montserrat"/>
              </a:rPr>
              <a:t>Nhận brief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C7480"/>
                </a:solidFill>
                <a:latin typeface="Maven Pro"/>
              </a:rPr>
              <a:t>Nhận content, tài khoản &amp; lịch seeding từ Marketing.</a:t>
            </a:r>
          </a:p>
        </p:txBody>
      </p:sp>
      <p:sp>
        <p:nvSpPr>
          <p:cNvPr id="14" name="Oval 13"/>
          <p:cNvSpPr/>
          <p:nvPr/>
        </p:nvSpPr>
        <p:spPr>
          <a:xfrm>
            <a:off x="3451860" y="2606040"/>
            <a:ext cx="822960" cy="822960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35224" y="3703320"/>
            <a:ext cx="18562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5224" y="3703320"/>
            <a:ext cx="1856232" cy="109728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3931920"/>
            <a:ext cx="1600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spc="150">
                <a:solidFill>
                  <a:srgbClr val="0A6A80"/>
                </a:solidFill>
                <a:latin typeface="Montserrat"/>
              </a:rPr>
              <a:t>BƯỚC 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B3543"/>
                </a:solidFill>
                <a:latin typeface="Montserrat"/>
              </a:rPr>
              <a:t>Đăng &amp; bình luận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C7480"/>
                </a:solidFill>
                <a:latin typeface="Maven Pro"/>
              </a:rPr>
              <a:t>Đăng bài / comment đúng kịch bản, đúng khung giờ.</a:t>
            </a:r>
          </a:p>
        </p:txBody>
      </p:sp>
      <p:sp>
        <p:nvSpPr>
          <p:cNvPr id="18" name="Oval 17"/>
          <p:cNvSpPr/>
          <p:nvPr/>
        </p:nvSpPr>
        <p:spPr>
          <a:xfrm>
            <a:off x="5673852" y="2606040"/>
            <a:ext cx="822960" cy="822960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57216" y="3703320"/>
            <a:ext cx="18562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3703320"/>
            <a:ext cx="1856232" cy="109728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3931920"/>
            <a:ext cx="1600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spc="150">
                <a:solidFill>
                  <a:srgbClr val="0A6A80"/>
                </a:solidFill>
                <a:latin typeface="Montserrat"/>
              </a:rPr>
              <a:t>BƯỚC 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B3543"/>
                </a:solidFill>
                <a:latin typeface="Montserrat"/>
              </a:rPr>
              <a:t>Nuôi tương tác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C7480"/>
                </a:solidFill>
                <a:latin typeface="Maven Pro"/>
              </a:rPr>
              <a:t>Tương tác chéo, trả lời, giữ tài khoản tự nhiên.</a:t>
            </a:r>
          </a:p>
        </p:txBody>
      </p:sp>
      <p:sp>
        <p:nvSpPr>
          <p:cNvPr id="22" name="Oval 21"/>
          <p:cNvSpPr/>
          <p:nvPr/>
        </p:nvSpPr>
        <p:spPr>
          <a:xfrm>
            <a:off x="7895844" y="2606040"/>
            <a:ext cx="822960" cy="822960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9208" y="3703320"/>
            <a:ext cx="18562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9208" y="3703320"/>
            <a:ext cx="1856232" cy="109728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3931920"/>
            <a:ext cx="1600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spc="150">
                <a:solidFill>
                  <a:srgbClr val="0A6A80"/>
                </a:solidFill>
                <a:latin typeface="Montserrat"/>
              </a:rPr>
              <a:t>BƯỚC 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B3543"/>
                </a:solidFill>
                <a:latin typeface="Montserrat"/>
              </a:rPr>
              <a:t>Ghi nhận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C7480"/>
                </a:solidFill>
                <a:latin typeface="Maven Pro"/>
              </a:rPr>
              <a:t>Cập nhật kết quả &amp; link lên App Seeding Kingsmen.</a:t>
            </a:r>
          </a:p>
        </p:txBody>
      </p:sp>
      <p:sp>
        <p:nvSpPr>
          <p:cNvPr id="26" name="Oval 25"/>
          <p:cNvSpPr/>
          <p:nvPr/>
        </p:nvSpPr>
        <p:spPr>
          <a:xfrm>
            <a:off x="10117836" y="2606040"/>
            <a:ext cx="822960" cy="822960"/>
          </a:xfrm>
          <a:prstGeom prst="ellipse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3703320"/>
            <a:ext cx="18562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3703320"/>
            <a:ext cx="1856232" cy="109728"/>
          </a:xfrm>
          <a:prstGeom prst="rect">
            <a:avLst/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9216" y="3931920"/>
            <a:ext cx="1600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spc="150">
                <a:solidFill>
                  <a:srgbClr val="0A6A80"/>
                </a:solidFill>
                <a:latin typeface="Montserrat"/>
              </a:rPr>
              <a:t>BƯỚC 5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B3543"/>
                </a:solidFill>
                <a:latin typeface="Montserrat"/>
              </a:rPr>
              <a:t>Báo cáo &amp; tối ưu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C7480"/>
                </a:solidFill>
                <a:latin typeface="Maven Pro"/>
              </a:rPr>
              <a:t>Tổng hợp số liệu, phản hồi để Marketing tối ưu.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779008"/>
            <a:ext cx="10744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A80"/>
                </a:solidFill>
                <a:latin typeface="Montserrat"/>
              </a:rPr>
              <a:t>Nguyên tắc vàng:  </a:t>
            </a:r>
            <a:r>
              <a:rPr sz="1300" b="0">
                <a:solidFill>
                  <a:srgbClr val="114654"/>
                </a:solidFill>
                <a:latin typeface="Maven Pro"/>
              </a:rPr>
              <a:t>Đều đặn mỗi ngày  —  Tự nhiên như khách hàng thật  —  Ghi nhận đầy đủ để đo hiệu quả.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5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3543"/>
              </a:gs>
              <a:gs pos="100000">
                <a:srgbClr val="0A6A80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0A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3291840"/>
            <a:ext cx="3474720" cy="3474720"/>
          </a:xfrm>
          <a:prstGeom prst="ellipse">
            <a:avLst/>
          </a:prstGeom>
          <a:solidFill>
            <a:srgbClr val="114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3840480"/>
            <a:ext cx="2926080" cy="2926080"/>
          </a:xfrm>
          <a:prstGeom prst="ellipse">
            <a:avLst/>
          </a:prstGeom>
          <a:noFill/>
          <a:ln w="15240">
            <a:solidFill>
              <a:srgbClr val="0A92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9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0B3543"/>
                </a:solidFill>
                <a:latin typeface="Montserrat"/>
              </a:rPr>
              <a:t>KINGSMEN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6800" b="1">
                <a:solidFill>
                  <a:srgbClr val="FFFFFF"/>
                </a:solidFill>
                <a:latin typeface="Montserrat"/>
              </a:rPr>
              <a:t>Cảm ơn!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0">
                <a:solidFill>
                  <a:srgbClr val="7FD4E4"/>
                </a:solidFill>
                <a:latin typeface="Maven Pro"/>
              </a:rPr>
              <a:t>Marketing đồng hành  —  Sales bứt phá doanh số.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463040" cy="54864"/>
          </a:xfrm>
          <a:prstGeom prst="rect">
            <a:avLst/>
          </a:prstGeom>
          <a:solidFill>
            <a:srgbClr val="7FD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FE9EF"/>
                </a:solidFill>
                <a:latin typeface="Maven Pro"/>
              </a:rPr>
              <a:t>Cùng nhau lan tỏa thương hiệu kẹo Kingsmen đến mọi khách hàng.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spc="100">
                <a:solidFill>
                  <a:srgbClr val="7FD4E4"/>
                </a:solidFill>
                <a:latin typeface="Montserrat"/>
              </a:rPr>
              <a:t>keokingsmen.com</a:t>
            </a:r>
            <a:r>
              <a:rPr sz="1300" b="0">
                <a:solidFill>
                  <a:srgbClr val="9DC5CF"/>
                </a:solidFill>
                <a:latin typeface="Maven Pro"/>
              </a:rPr>
              <a:t>     |     Phòng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